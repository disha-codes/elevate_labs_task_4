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51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40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48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4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49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7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9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13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75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71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97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E6D0B45-59AB-4F49-B5EC-75035392934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E703AE3-2533-4604-8E5E-FC104B056B2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109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4EC87-1727-AF88-10E7-DBD7D9F9B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998" y="2102653"/>
            <a:ext cx="6131263" cy="1326347"/>
          </a:xfrm>
        </p:spPr>
        <p:txBody>
          <a:bodyPr>
            <a:noAutofit/>
          </a:bodyPr>
          <a:lstStyle/>
          <a:p>
            <a:pPr algn="just"/>
            <a:r>
              <a:rPr lang="en-US" sz="9600" dirty="0">
                <a:latin typeface="Candara" panose="020E0502030303020204" pitchFamily="34" charset="0"/>
              </a:rPr>
              <a:t>CAR SALES</a:t>
            </a:r>
            <a:endParaRPr lang="en-IN" sz="9600" dirty="0">
              <a:latin typeface="Candara" panose="020E0502030303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FEDAA03-49CD-D585-020C-939EBCEC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8860" y="3532082"/>
            <a:ext cx="7749540" cy="915098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4400" b="1" dirty="0">
                <a:latin typeface="Candara" panose="020E0502030303020204" pitchFamily="34" charset="0"/>
              </a:rPr>
              <a:t>Financial Analysis Report</a:t>
            </a:r>
            <a:endParaRPr lang="en-IN" sz="44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81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7AD6-FF0D-DE66-A0B6-8BA9ECA4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KPIs</a:t>
            </a:r>
            <a:endParaRPr lang="en-IN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8818C-E4D9-97C7-1285-D0C0ED1A5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ndara" panose="020E0502030303020204" pitchFamily="34" charset="0"/>
              </a:rPr>
              <a:t>Total Sales - 7bn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ndara" panose="020E0502030303020204" pitchFamily="34" charset="0"/>
              </a:rPr>
              <a:t>Average Odometer – 67.66K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ndara" panose="020E0502030303020204" pitchFamily="34" charset="0"/>
              </a:rPr>
              <a:t>Average Condition Score – 30.78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ndara" panose="020E0502030303020204" pitchFamily="34" charset="0"/>
              </a:rPr>
              <a:t>Average Selling Price – 13.56K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ndara" panose="020E0502030303020204" pitchFamily="34" charset="0"/>
              </a:rPr>
              <a:t>Price Difference - -151.77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ndara" panose="020E0502030303020204" pitchFamily="34" charset="0"/>
              </a:rPr>
              <a:t>Total Cars Sold – 476K</a:t>
            </a:r>
            <a:endParaRPr lang="en-IN" sz="24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674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F977D8-9EDE-C6F7-CACF-B20473DFF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3" y="71462"/>
            <a:ext cx="10954513" cy="620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CA94-3250-797C-0132-DD937619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ndara" panose="020E0502030303020204" pitchFamily="34" charset="0"/>
              </a:rPr>
              <a:t>Insights</a:t>
            </a:r>
            <a:endParaRPr lang="en-IN" b="1" dirty="0">
              <a:latin typeface="Candara" panose="020E0502030303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A8F3B4-6028-0E67-8A99-C1F3F48A0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914" y="2045328"/>
            <a:ext cx="993876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 company generated a strong total revenue from used car sales, led mainly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high-selling models such as BMW, Kia Sorento, and Volvo S60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California (CA)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recorded the highest vehicle sales volume and total revenue among all states, indicating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strong market demand and buyer 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in the region.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Monthly sales trend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shows noticeable fluctuations,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peak performance in late Q4 months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, suggesting seasonal demand patterns and potential holiday influence.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Higher condition score vehicles (40+) consistently achieve above-market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compared to MMR benchmark, emphasizing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quality improves profitability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510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3A8D6-11AA-B899-761B-FE0DDC5D2555}"/>
              </a:ext>
            </a:extLst>
          </p:cNvPr>
          <p:cNvSpPr txBox="1"/>
          <p:nvPr/>
        </p:nvSpPr>
        <p:spPr>
          <a:xfrm>
            <a:off x="1144524" y="1583680"/>
            <a:ext cx="99029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Cars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lower odometer readings (&lt;10,000 miles)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sell significantly higher than average, showing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mileage strongly influences sale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Luxury and performance brands like BMW &amp; Volvo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show greater price variance, reflecting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premium pricing behavior and broader buyer price tolerance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Top 10 performing vehicle models contribute a major share of total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, suggesting that focusing inventory on high-performing models can improve profitability.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States with lower sales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present an opportunity to increase revenue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targeted marketing and regional expansion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69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9966-1932-BF0D-80A3-10EE47E19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9EA391-2BC5-B6FF-8664-7E15260AB12D}"/>
              </a:ext>
            </a:extLst>
          </p:cNvPr>
          <p:cNvSpPr txBox="1"/>
          <p:nvPr/>
        </p:nvSpPr>
        <p:spPr>
          <a:xfrm>
            <a:off x="1144524" y="1583680"/>
            <a:ext cx="99029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Cars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lower odometer readings (&lt;10,000 miles)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sell significantly higher than average, showing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mileage strongly influences sale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Luxury and performance brands like BMW &amp; Volvo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show greater price variance, reflecting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premium pricing behavior and broader buyer price tolerance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Top 10 performing vehicle models contribute a major share of total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, suggesting that focusing inventory on high-performing models can improve profitability.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States with lower sales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present an opportunity to increase revenue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targeted marketing and regional expansion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426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ABAB-18C0-F9FC-26F2-D65DA63E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Recommendations</a:t>
            </a:r>
            <a:endParaRPr lang="en-IN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A8AC2-9EE9-893D-77AC-1C4C59B43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68880"/>
            <a:ext cx="10058400" cy="3400214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Increasing acquisition &amp; marketing of </a:t>
            </a:r>
            <a:r>
              <a:rPr lang="en-US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top-performing models</a:t>
            </a: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 with high-demand and profitability (e.g., BMW, Volvo, Kia Sorento).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Improving buyer attraction by offering </a:t>
            </a:r>
            <a:r>
              <a:rPr lang="en-US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certification / warranty plans</a:t>
            </a: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 for lower-condition vehicles.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Launching </a:t>
            </a:r>
            <a:r>
              <a:rPr lang="en-US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seasonal promotional campaigns during Q3–Q4</a:t>
            </a: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 to maximize peak buying periods.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Expanding advertising and dealership partnerships in </a:t>
            </a:r>
            <a:r>
              <a:rPr lang="en-US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low-performing states</a:t>
            </a: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 to capture untapped markets.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Focusing on vehicles with </a:t>
            </a:r>
            <a:r>
              <a:rPr lang="en-US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condition score &gt; 40 and lower mileage ranges</a:t>
            </a:r>
            <a:r>
              <a:rPr lang="en-US" sz="1800" dirty="0">
                <a:solidFill>
                  <a:schemeClr val="tx1"/>
                </a:solidFill>
                <a:latin typeface="Candara" panose="020E0502030303020204" pitchFamily="34" charset="0"/>
              </a:rPr>
              <a:t>, which show better profit margins.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4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7564C1-4262-C025-2E3F-0DAAB777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ndara" panose="020E0502030303020204" pitchFamily="34" charset="0"/>
              </a:rPr>
              <a:t>Conclusion</a:t>
            </a:r>
            <a:endParaRPr lang="en-IN" b="1" dirty="0">
              <a:latin typeface="Candara" panose="020E0502030303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74BFD7-13DE-F1C4-D5D1-84E008F17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>
                <a:latin typeface="Candara" panose="020E0502030303020204" pitchFamily="34" charset="0"/>
              </a:rPr>
              <a:t>The Power BI dashboard provides a clear and comprehensive view of the used car sales performance across states, vehicle conditions, mileage ranges, and time periods. The analysis highlights that premium brands such as </a:t>
            </a:r>
            <a:r>
              <a:rPr lang="en-US" sz="1800" b="1" dirty="0">
                <a:latin typeface="Candara" panose="020E0502030303020204" pitchFamily="34" charset="0"/>
              </a:rPr>
              <a:t>BMW and Volvo</a:t>
            </a:r>
            <a:r>
              <a:rPr lang="en-US" sz="1800" dirty="0">
                <a:latin typeface="Candara" panose="020E0502030303020204" pitchFamily="34" charset="0"/>
              </a:rPr>
              <a:t>, along with models like </a:t>
            </a:r>
            <a:r>
              <a:rPr lang="en-US" sz="1800" b="1" dirty="0">
                <a:latin typeface="Candara" panose="020E0502030303020204" pitchFamily="34" charset="0"/>
              </a:rPr>
              <a:t>Kia Sorento</a:t>
            </a:r>
            <a:r>
              <a:rPr lang="en-US" sz="1800" dirty="0">
                <a:latin typeface="Candara" panose="020E0502030303020204" pitchFamily="34" charset="0"/>
              </a:rPr>
              <a:t>, contributed significantly to overall revenue. </a:t>
            </a:r>
            <a:r>
              <a:rPr lang="en-US" sz="1800" b="1" dirty="0">
                <a:latin typeface="Candara" panose="020E0502030303020204" pitchFamily="34" charset="0"/>
              </a:rPr>
              <a:t>California emerged as the strongest market</a:t>
            </a:r>
            <a:r>
              <a:rPr lang="en-US" sz="1800" dirty="0">
                <a:latin typeface="Candara" panose="020E0502030303020204" pitchFamily="34" charset="0"/>
              </a:rPr>
              <a:t>, indicating high demand concentration and consumer purchasing power. The study also reveals that </a:t>
            </a:r>
            <a:r>
              <a:rPr lang="en-US" sz="1800" b="1" dirty="0">
                <a:latin typeface="Candara" panose="020E0502030303020204" pitchFamily="34" charset="0"/>
              </a:rPr>
              <a:t>vehicle condition and mileage play crucial roles in determining price</a:t>
            </a:r>
            <a:r>
              <a:rPr lang="en-US" sz="1800" dirty="0">
                <a:latin typeface="Candara" panose="020E0502030303020204" pitchFamily="34" charset="0"/>
              </a:rPr>
              <a:t>, where cars with </a:t>
            </a:r>
            <a:r>
              <a:rPr lang="en-US" sz="1800" b="1" dirty="0">
                <a:latin typeface="Candara" panose="020E0502030303020204" pitchFamily="34" charset="0"/>
              </a:rPr>
              <a:t>higher condition scores (&gt;40)</a:t>
            </a:r>
            <a:r>
              <a:rPr lang="en-US" sz="1800" dirty="0">
                <a:latin typeface="Candara" panose="020E0502030303020204" pitchFamily="34" charset="0"/>
              </a:rPr>
              <a:t> and </a:t>
            </a:r>
            <a:r>
              <a:rPr lang="en-US" sz="1800" b="1" dirty="0">
                <a:latin typeface="Candara" panose="020E0502030303020204" pitchFamily="34" charset="0"/>
              </a:rPr>
              <a:t>lower odometer readings(&lt;10,000 miles)</a:t>
            </a:r>
            <a:r>
              <a:rPr lang="en-US" sz="1800" dirty="0">
                <a:latin typeface="Candara" panose="020E0502030303020204" pitchFamily="34" charset="0"/>
              </a:rPr>
              <a:t> consistently achieve higher selling prices.</a:t>
            </a:r>
          </a:p>
          <a:p>
            <a:pPr algn="just"/>
            <a:r>
              <a:rPr lang="en-US" sz="1800" dirty="0">
                <a:latin typeface="Candara" panose="020E0502030303020204" pitchFamily="34" charset="0"/>
              </a:rPr>
              <a:t>Seasonal patterns suggest that </a:t>
            </a:r>
            <a:r>
              <a:rPr lang="en-US" sz="1800" b="1" dirty="0">
                <a:latin typeface="Candara" panose="020E0502030303020204" pitchFamily="34" charset="0"/>
              </a:rPr>
              <a:t>Q4 months generate peak sales</a:t>
            </a:r>
            <a:r>
              <a:rPr lang="en-US" sz="1800" dirty="0">
                <a:latin typeface="Candara" panose="020E0502030303020204" pitchFamily="34" charset="0"/>
              </a:rPr>
              <a:t>, reinforcing the need for targeted marketing during this period. Additionally, the findings demonstrate opportunities for </a:t>
            </a:r>
            <a:r>
              <a:rPr lang="en-US" sz="1800" b="1" dirty="0">
                <a:latin typeface="Candara" panose="020E0502030303020204" pitchFamily="34" charset="0"/>
              </a:rPr>
              <a:t>market expansion in underperforming states</a:t>
            </a:r>
            <a:r>
              <a:rPr lang="en-US" sz="1800" dirty="0">
                <a:latin typeface="Candara" panose="020E0502030303020204" pitchFamily="34" charset="0"/>
              </a:rPr>
              <a:t>, supported by focused advertising and inventory optimization around top-selling vehicle segments.</a:t>
            </a:r>
          </a:p>
          <a:p>
            <a:pPr algn="just"/>
            <a:r>
              <a:rPr lang="en-US" sz="1800" dirty="0">
                <a:latin typeface="Candara" panose="020E0502030303020204" pitchFamily="34" charset="0"/>
              </a:rPr>
              <a:t>Overall, the dashboard empowers business stakeholders to make </a:t>
            </a:r>
            <a:r>
              <a:rPr lang="en-US" sz="1800" b="1" dirty="0">
                <a:latin typeface="Candara" panose="020E0502030303020204" pitchFamily="34" charset="0"/>
              </a:rPr>
              <a:t>data-driven decisions related to pricing strategy, inventory planning, and regional sales growth</a:t>
            </a:r>
            <a:r>
              <a:rPr lang="en-US" sz="1800" dirty="0">
                <a:latin typeface="Candara" panose="020E0502030303020204" pitchFamily="34" charset="0"/>
              </a:rPr>
              <a:t>, ultimately improving profitability and enhancing customer engagement.</a:t>
            </a:r>
          </a:p>
          <a:p>
            <a:pPr algn="just"/>
            <a:endParaRPr lang="en-IN" sz="18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0945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</TotalTime>
  <Words>585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Candara</vt:lpstr>
      <vt:lpstr>Retrospect</vt:lpstr>
      <vt:lpstr>CAR SALES</vt:lpstr>
      <vt:lpstr>KPIs</vt:lpstr>
      <vt:lpstr>PowerPoint Presentation</vt:lpstr>
      <vt:lpstr>Insights</vt:lpstr>
      <vt:lpstr>PowerPoint Presentation</vt:lpstr>
      <vt:lpstr>PowerPoint Presentation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 Desai</dc:creator>
  <cp:lastModifiedBy>Disha Desai</cp:lastModifiedBy>
  <cp:revision>4</cp:revision>
  <dcterms:created xsi:type="dcterms:W3CDTF">2025-12-01T06:21:19Z</dcterms:created>
  <dcterms:modified xsi:type="dcterms:W3CDTF">2025-12-01T07:30:32Z</dcterms:modified>
</cp:coreProperties>
</file>